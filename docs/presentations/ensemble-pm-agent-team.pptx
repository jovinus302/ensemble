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Ensemble은 PM agent가 사람과 agent를 한 팀으로 이끄는 협업툴입니다.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1장 결론: 사람도 agent와 함께 일하는 팀원이고, 그 팀의 진행을 PM agent가 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사람은 판단·검토·제약 제시, agent는 실행, PM agent는 정리·배정·질문·연결을 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agent는 일을 잘하지만, 사람 사이의 조율과 후속 진행은 여전히 사람이 챙긴다.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 제품도 사람 협업 기능을 갖고 있다. 차이는 사람 사이의 조율·후속을 누가 챙기느냐다.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4단계: 사람이 제약을 말하고 → 다른 팀원이 대안 → PM이 범위·역할 정리 후 agent 배정 → 사람이 검토하면 PM이 다음 작업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서연의 일정 제약, 도윤의 대안 → PM이 D2로 범위를 기록하고 Story·UI에 작업을 배정. 오른쪽은 PM 정리 직후 바뀐 상태.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실행 → 도윤 검토 → PM이 요청 대비 결과를 대조하고 마무리, 다음 판단을 사람에게 넘김.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합의 → 작업 → 결과. 사람이 쫓아다니지 않아도 팀의 합의가 실제 결과로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cover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685800" y="11430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85800" y="1645920"/>
            <a:ext cx="4572000" cy="2926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agent가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사람과 agent를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한 팀으로 이끄는 협업툴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85800" y="47548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사람과 agent가 한 팀으로,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그 진행은 PM agent가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1장 · 어떤 제품인가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agent가 팀의 일을 이어 주는 협업툴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01368"/>
            <a:ext cx="420624" cy="420624"/>
          </a:xfrm>
          <a:prstGeom prst="ellipse">
            <a:avLst/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1783080"/>
            <a:ext cx="52578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사람들은</a:t>
            </a: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 채팅에서 의견을 보태고, 제약을 말하고, 서로 조율한다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70048"/>
            <a:ext cx="420624" cy="420624"/>
          </a:xfrm>
          <a:prstGeom prst="ellipse">
            <a:avLst/>
          </a:prstGeom>
          <a:solidFill>
            <a:srgbClr val="173B3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651760"/>
            <a:ext cx="52578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agent는</a:t>
            </a: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 대화 속에서 목표·우선순위·담당·다음 행동을 정리하고 팀의 일을 이어준다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38727"/>
            <a:ext cx="420624" cy="420624"/>
          </a:xfrm>
          <a:prstGeom prst="ellipse">
            <a:avLst/>
          </a:prstGeom>
          <a:solidFill>
            <a:srgbClr val="6D4F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520439"/>
            <a:ext cx="52578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실행이 필요하면</a:t>
            </a: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 agent에게 맡기고, 사람의 판단이 필요하면 적절한 팀원에게 묻는다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407407"/>
            <a:ext cx="420624" cy="420624"/>
          </a:xfrm>
          <a:prstGeom prst="ellipse">
            <a:avLst/>
          </a:prstGeom>
          <a:solidFill>
            <a:srgbClr val="173B3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389120"/>
            <a:ext cx="52578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PM의 역할은</a:t>
            </a: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 모든 일을 대신하는 게 아니라 팀이 함께 일을 끝내도록 이끄는 것</a:t>
            </a:r>
          </a:p>
        </p:txBody>
      </p:sp>
      <p:pic>
        <p:nvPicPr>
          <p:cNvPr id="12" name="Image team" descr="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51786"/>
            <a:ext cx="5056632" cy="2845867"/>
          </a:xfrm>
          <a:prstGeom prst="roundRect">
            <a:avLst>
              <a:gd name="adj" fmla="val 4498"/>
            </a:avLst>
          </a:prstGeom>
        </p:spPr>
      </p:pic>
      <p:sp>
        <p:nvSpPr>
          <p:cNvPr id="13" name="Takeaway"/>
          <p:cNvSpPr/>
          <p:nvPr/>
        </p:nvSpPr>
        <p:spPr>
          <a:xfrm>
            <a:off x="548640" y="5440680"/>
            <a:ext cx="11094415" cy="713232"/>
          </a:xfrm>
          <a:prstGeom prst="roundRect">
            <a:avLst>
              <a:gd name="adj" fmla="val 17948"/>
            </a:avLst>
          </a:prstGeom>
          <a:solidFill>
            <a:srgbClr val="173B30"/>
          </a:solidFill>
          <a:ln>
            <a:noFill/>
          </a:ln>
        </p:spPr>
        <p:txBody>
          <a:bodyPr rtlCol="0" anchor="ctr" wrap="square" lIns="365760" tIns="0" rIns="36576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사람도 agent와 함께 일하는 팀원</a:t>
            </a:r>
            <a:r>
              <a:rPr sz="21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 — 그 팀의 진행을 PM agent가 맡는다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1장 · 어떤 제품인가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한 팀, 세 종류의 팀원</a:t>
            </a:r>
          </a:p>
        </p:txBody>
      </p:sp>
      <p:sp>
        <p:nvSpPr>
          <p:cNvPr id="4" name="Card 사람"/>
          <p:cNvSpPr/>
          <p:nvPr/>
        </p:nvSpPr>
        <p:spPr>
          <a:xfrm>
            <a:off x="548640" y="1783080"/>
            <a:ext cx="3503066" cy="4023360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822960" cy="822960"/>
          </a:xfrm>
          <a:prstGeom prst="ellipse">
            <a:avLst/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사람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21608"/>
            <a:ext cx="27715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판단·검토하고 제약을 말한다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54048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3696" y="4343400"/>
            <a:ext cx="1064260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제약 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277154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예) 서연·도윤 — 일정 제약과 대안 제시</a:t>
            </a:r>
          </a:p>
        </p:txBody>
      </p:sp>
      <p:sp>
        <p:nvSpPr>
          <p:cNvPr id="12" name="Card Agent"/>
          <p:cNvSpPr/>
          <p:nvPr/>
        </p:nvSpPr>
        <p:spPr>
          <a:xfrm>
            <a:off x="4344314" y="1783080"/>
            <a:ext cx="3503066" cy="4023360"/>
          </a:xfrm>
          <a:prstGeom prst="roundRect">
            <a:avLst>
              <a:gd name="adj" fmla="val 4698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10074" y="2148840"/>
            <a:ext cx="822960" cy="822960"/>
          </a:xfrm>
          <a:prstGeom prst="ellipse">
            <a:avLst/>
          </a:prstGeom>
          <a:solidFill>
            <a:srgbClr val="6D4F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074" y="320040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074" y="3721608"/>
            <a:ext cx="27715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맡은 실행을 끝까지 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0074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9722" y="4343400"/>
            <a:ext cx="772668" cy="311150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3830" y="4343400"/>
            <a:ext cx="513080" cy="311150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0074" y="5074920"/>
            <a:ext cx="277154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예) Story는 템플릿, UI는 화면 수정</a:t>
            </a:r>
          </a:p>
        </p:txBody>
      </p:sp>
      <p:sp>
        <p:nvSpPr>
          <p:cNvPr id="20" name="Card PM agent"/>
          <p:cNvSpPr/>
          <p:nvPr/>
        </p:nvSpPr>
        <p:spPr>
          <a:xfrm>
            <a:off x="8139988" y="1783080"/>
            <a:ext cx="3503066" cy="4023360"/>
          </a:xfrm>
          <a:prstGeom prst="roundRect">
            <a:avLst>
              <a:gd name="adj" fmla="val 4698"/>
            </a:avLst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5748" y="2148840"/>
            <a:ext cx="822960" cy="822960"/>
          </a:xfrm>
          <a:prstGeom prst="ellipse">
            <a:avLst/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5748" y="320040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PM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5748" y="3721608"/>
            <a:ext cx="2771546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팀의 진행을 맡는다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5748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5396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85044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4692" y="4343400"/>
            <a:ext cx="648208" cy="311150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5748" y="5074920"/>
            <a:ext cx="277154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예) D2 기록, 담당 배정, 검토 요청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2장 · 왜 필요한가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agent가 일을 잘해도, 사람들 사이의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조율과 후속 진행은 누가 챙기는가?</a:t>
            </a:r>
          </a:p>
        </p:txBody>
      </p:sp>
      <p:sp>
        <p:nvSpPr>
          <p:cNvPr id="4" name="Subline"/>
          <p:cNvSpPr txBox="1"/>
          <p:nvPr/>
        </p:nvSpPr>
        <p:spPr>
          <a:xfrm>
            <a:off x="548640" y="201168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일은 agent가 해도, 일과 일 사이는 아직 사람이 잇는다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지금 사람이 직접 잇고 있는 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74720"/>
            <a:ext cx="4572000" cy="493776"/>
          </a:xfrm>
          <a:prstGeom prst="roundRect">
            <a:avLst>
              <a:gd name="adj" fmla="val 22222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201168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600" b="0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대화를 다시 정리하기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96511"/>
            <a:ext cx="4572000" cy="493776"/>
          </a:xfrm>
          <a:prstGeom prst="roundRect">
            <a:avLst>
              <a:gd name="adj" fmla="val 22222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201168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600" b="0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담당자를 찾아 맡기기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18304"/>
            <a:ext cx="4572000" cy="493776"/>
          </a:xfrm>
          <a:prstGeom prst="roundRect">
            <a:avLst>
              <a:gd name="adj" fmla="val 22222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201168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600" b="0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진행을 일일이 쫓아가기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40096"/>
            <a:ext cx="4572000" cy="493776"/>
          </a:xfrm>
          <a:prstGeom prst="roundRect">
            <a:avLst>
              <a:gd name="adj" fmla="val 22222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201168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600" b="0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결과를 다음 작업으로 넘기기</a:t>
            </a:r>
          </a:p>
        </p:txBody>
      </p:sp>
      <p:pic>
        <p:nvPicPr>
          <p:cNvPr id="10" name="Image gap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743200"/>
            <a:ext cx="6016752" cy="3386222"/>
          </a:xfrm>
          <a:prstGeom prst="roundRect">
            <a:avLst>
              <a:gd name="adj" fmla="val 378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2장 · 왜 필요한가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사람 사이의 조율과 후속, 누가 챙기는가</a:t>
            </a:r>
          </a:p>
        </p:txBody>
      </p:sp>
      <p:sp>
        <p:nvSpPr>
          <p:cNvPr id="4" name="Card Orca"/>
          <p:cNvSpPr/>
          <p:nvPr/>
        </p:nvSpPr>
        <p:spPr>
          <a:xfrm>
            <a:off x="548640" y="1737360"/>
            <a:ext cx="2602153" cy="420624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14495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Orca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39"/>
            <a:ext cx="21449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Stably AI · 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144953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개발자가 병렬 코딩 agent를 worktree별로 지휘하고 diff를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79"/>
            <a:ext cx="214495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조율의 중심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47488"/>
            <a:ext cx="2144953" cy="694944"/>
          </a:xfrm>
          <a:prstGeom prst="roundRect">
            <a:avLst>
              <a:gd name="adj" fmla="val 13157"/>
            </a:avLst>
          </a:prstGeom>
          <a:solidFill>
            <a:srgbClr val="ECEEEA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개발자 본인</a:t>
            </a:r>
          </a:p>
        </p:txBody>
      </p:sp>
      <p:sp>
        <p:nvSpPr>
          <p:cNvPr id="10" name="Card Paperclip"/>
          <p:cNvSpPr/>
          <p:nvPr/>
        </p:nvSpPr>
        <p:spPr>
          <a:xfrm>
            <a:off x="3379393" y="1737360"/>
            <a:ext cx="2602153" cy="420624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965960"/>
            <a:ext cx="214495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Paperclip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993" y="2377439"/>
            <a:ext cx="21449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오픈소스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788920"/>
            <a:ext cx="2144953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agent를 회사처럼 운영 — 조직도·승인 게이트·예산, 사람+agent 혼합 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4754879"/>
            <a:ext cx="214495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조율의 중심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7993" y="5047488"/>
            <a:ext cx="2144953" cy="694944"/>
          </a:xfrm>
          <a:prstGeom prst="roundRect">
            <a:avLst>
              <a:gd name="adj" fmla="val 13157"/>
            </a:avLst>
          </a:prstGeom>
          <a:solidFill>
            <a:srgbClr val="ECEEEA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board로서 승인·통제하는 사람</a:t>
            </a:r>
          </a:p>
        </p:txBody>
      </p:sp>
      <p:sp>
        <p:nvSpPr>
          <p:cNvPr id="16" name="Card Muse · Dots"/>
          <p:cNvSpPr/>
          <p:nvPr/>
        </p:nvSpPr>
        <p:spPr>
          <a:xfrm>
            <a:off x="6210147" y="1737360"/>
            <a:ext cx="2602153" cy="420624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7" y="1965960"/>
            <a:ext cx="214495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Muse · Dots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2377439"/>
            <a:ext cx="21449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Meta ·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747" y="2788920"/>
            <a:ext cx="2144953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개인/동료형 always-on agent. 사람이 지시·태그하고 승인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Dots는 팀 공유 Page에서도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4754879"/>
            <a:ext cx="214495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조율의 중심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8747" y="5047488"/>
            <a:ext cx="2144953" cy="694944"/>
          </a:xfrm>
          <a:prstGeom prst="roundRect">
            <a:avLst>
              <a:gd name="adj" fmla="val 13157"/>
            </a:avLst>
          </a:prstGeom>
          <a:solidFill>
            <a:srgbClr val="ECEEEA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호출한 사람</a:t>
            </a:r>
          </a:p>
        </p:txBody>
      </p:sp>
      <p:sp>
        <p:nvSpPr>
          <p:cNvPr id="22" name="Card Ensemble"/>
          <p:cNvSpPr/>
          <p:nvPr/>
        </p:nvSpPr>
        <p:spPr>
          <a:xfrm>
            <a:off x="9040901" y="1737360"/>
            <a:ext cx="2602153" cy="4206240"/>
          </a:xfrm>
          <a:prstGeom prst="roundRect">
            <a:avLst>
              <a:gd name="adj" fmla="val 5622"/>
            </a:avLst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9501" y="1965960"/>
            <a:ext cx="214495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9501" y="2377439"/>
            <a:ext cx="21449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PM agent 협업툴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9501" y="2788920"/>
            <a:ext cx="2144953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여러 사람의 의견·제약을 PM agent가 정리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범위·담당 합의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agent 배정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검토 요청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다음 작업 연결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9501" y="4754879"/>
            <a:ext cx="214495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조율의 중심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9501" y="5047488"/>
            <a:ext cx="2144953" cy="694944"/>
          </a:xfrm>
          <a:prstGeom prst="roundRect">
            <a:avLst>
              <a:gd name="adj" fmla="val 13157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agent</a:t>
            </a:r>
          </a:p>
        </p:txBody>
      </p:sp>
      <p:sp>
        <p:nvSpPr>
          <p:cNvPr id="28" name="Footnote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공개 자료 기준(2026-10) · 기능 유무가 아니라 '사람 간 조율·후속을 누가 챙기나'의 경험 중심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실제 흐름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합의가 작업으로, 작업이 다음 작업으로</a:t>
            </a:r>
          </a:p>
        </p:txBody>
      </p:sp>
      <p:pic>
        <p:nvPicPr>
          <p:cNvPr id="4" name="Image flow" descr="flow.png"/>
          <p:cNvPicPr>
            <a:picLocks noChangeAspect="1"/>
          </p:cNvPicPr>
          <p:nvPr/>
        </p:nvPicPr>
        <p:blipFill>
          <a:blip r:embed="rId2"/>
          <a:srcRect t="27000" b="29000"/>
          <a:stretch>
            <a:fillRect/>
          </a:stretch>
        </p:blipFill>
        <p:spPr>
          <a:xfrm>
            <a:off x="548640" y="1536192"/>
            <a:ext cx="11094415" cy="2747327"/>
          </a:xfrm>
          <a:prstGeom prst="rect">
            <a:avLst/>
          </a:prstGeom>
        </p:spPr>
      </p:pic>
      <p:sp>
        <p:nvSpPr>
          <p:cNvPr id="5" name="Step 1"/>
          <p:cNvSpPr/>
          <p:nvPr/>
        </p:nvSpPr>
        <p:spPr>
          <a:xfrm>
            <a:off x="548640" y="4466399"/>
            <a:ext cx="2602153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4649279"/>
            <a:ext cx="402336" cy="402336"/>
          </a:xfrm>
          <a:prstGeom prst="ellipse">
            <a:avLst/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713287"/>
            <a:ext cx="16877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161343"/>
            <a:ext cx="219981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“이 일정에는 여기까지만 가능해요”</a:t>
            </a:r>
          </a:p>
        </p:txBody>
      </p:sp>
      <p:sp>
        <p:nvSpPr>
          <p:cNvPr id="9" name="Step 2"/>
          <p:cNvSpPr/>
          <p:nvPr/>
        </p:nvSpPr>
        <p:spPr>
          <a:xfrm>
            <a:off x="3379393" y="4466399"/>
            <a:ext cx="2602153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0561" y="4649279"/>
            <a:ext cx="402336" cy="402336"/>
          </a:xfrm>
          <a:prstGeom prst="ellipse">
            <a:avLst/>
          </a:prstGeom>
          <a:solidFill>
            <a:srgbClr val="4E8C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0913" y="4713287"/>
            <a:ext cx="16877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4E8C6E"/>
                </a:solidFill>
                <a:latin typeface="Malgun Gothic"/>
                <a:ea typeface="Malgun Gothic"/>
                <a:cs typeface="Malgun Gothic"/>
              </a:rPr>
              <a:t>다른 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0561" y="5161343"/>
            <a:ext cx="219981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대안을 보탠다</a:t>
            </a:r>
          </a:p>
        </p:txBody>
      </p:sp>
      <p:sp>
        <p:nvSpPr>
          <p:cNvPr id="13" name="Step 3"/>
          <p:cNvSpPr/>
          <p:nvPr/>
        </p:nvSpPr>
        <p:spPr>
          <a:xfrm>
            <a:off x="6210147" y="4466399"/>
            <a:ext cx="2602153" cy="1691640"/>
          </a:xfrm>
          <a:prstGeom prst="roundRect">
            <a:avLst>
              <a:gd name="adj" fmla="val 7567"/>
            </a:avLst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1315" y="4649279"/>
            <a:ext cx="402336" cy="402336"/>
          </a:xfrm>
          <a:prstGeom prst="ellipse">
            <a:avLst/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1667" y="4713287"/>
            <a:ext cx="16877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PM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5161343"/>
            <a:ext cx="219981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범위·역할을 정리하고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→ agent에게 작업 배정</a:t>
            </a:r>
          </a:p>
        </p:txBody>
      </p:sp>
      <p:sp>
        <p:nvSpPr>
          <p:cNvPr id="17" name="Step 4"/>
          <p:cNvSpPr/>
          <p:nvPr/>
        </p:nvSpPr>
        <p:spPr>
          <a:xfrm>
            <a:off x="9040901" y="4466399"/>
            <a:ext cx="2602153" cy="169164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C9D1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42069" y="4649279"/>
            <a:ext cx="402336" cy="402336"/>
          </a:xfrm>
          <a:prstGeom prst="ellipse">
            <a:avLst/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421" y="4713287"/>
            <a:ext cx="168775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사람 → PM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2069" y="5161343"/>
            <a:ext cx="219981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사람이 결과를 검토하면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→ PM이 다음 작업까지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데모 · Pages 팀 (1/2)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제약과 대안이 나오면, PM이 범위와 담당을 정한다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</a:t>
            </a:r>
          </a:p>
        </p:txBody>
      </p:sp>
      <p:sp>
        <p:nvSpPr>
          <p:cNvPr id="5" name="Bubble 서연"/>
          <p:cNvSpPr/>
          <p:nvPr/>
        </p:nvSpPr>
        <p:spPr>
          <a:xfrm>
            <a:off x="1133856" y="1783080"/>
            <a:ext cx="5678424" cy="783844"/>
          </a:xfrm>
          <a:prstGeom prst="roundRect">
            <a:avLst>
              <a:gd name="adj" fmla="val 16331"/>
            </a:avLst>
          </a:prstGeom>
          <a:solidFill>
            <a:srgbClr val="D3EB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6736" y="19019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서연</a:t>
            </a: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 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4212" y="1892807"/>
            <a:ext cx="880618" cy="244475"/>
          </a:xfrm>
          <a:prstGeom prst="roundRect">
            <a:avLst>
              <a:gd name="adj" fmla="val 50000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일정 제약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185416"/>
            <a:ext cx="5312664" cy="326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기준만 정리해 두고 화면은 다음 주에 볼게요.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13228"/>
            <a:ext cx="457200" cy="457200"/>
          </a:xfrm>
          <a:prstGeom prst="ellipse">
            <a:avLst/>
          </a:prstGeom>
          <a:solidFill>
            <a:srgbClr val="4E8C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</a:t>
            </a:r>
          </a:p>
        </p:txBody>
      </p:sp>
      <p:sp>
        <p:nvSpPr>
          <p:cNvPr id="10" name="Bubble 도윤"/>
          <p:cNvSpPr/>
          <p:nvPr/>
        </p:nvSpPr>
        <p:spPr>
          <a:xfrm>
            <a:off x="1133856" y="2713228"/>
            <a:ext cx="5678424" cy="1000759"/>
          </a:xfrm>
          <a:prstGeom prst="roundRect">
            <a:avLst>
              <a:gd name="adj" fmla="val 12791"/>
            </a:avLst>
          </a:prstGeom>
          <a:solidFill>
            <a:srgbClr val="E4F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28321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도윤</a:t>
            </a: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  사람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4212" y="2822956"/>
            <a:ext cx="553720" cy="244475"/>
          </a:xfrm>
          <a:prstGeom prst="roundRect">
            <a:avLst>
              <a:gd name="adj" fmla="val 50000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115564"/>
            <a:ext cx="5312664" cy="5435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fiction 안내가 안 보여요. 노래는 이번 첫 화면에서 빼고 나머지 포맷에 집중하면 어떨까요?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60292"/>
            <a:ext cx="457200" cy="457200"/>
          </a:xfrm>
          <a:prstGeom prst="ellipse">
            <a:avLst/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15" name="Bubble PM"/>
          <p:cNvSpPr/>
          <p:nvPr/>
        </p:nvSpPr>
        <p:spPr>
          <a:xfrm>
            <a:off x="1133856" y="3860292"/>
            <a:ext cx="5678424" cy="1264157"/>
          </a:xfrm>
          <a:prstGeom prst="roundRect">
            <a:avLst>
              <a:gd name="adj" fmla="val 10126"/>
            </a:avLst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97916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PM</a:t>
            </a:r>
            <a:r>
              <a:rPr sz="1100" b="0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  PM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3282" y="3970020"/>
            <a:ext cx="774446" cy="244475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262628"/>
            <a:ext cx="5312664" cy="8069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D2 기록: fiction 안내 추가와 노래 제외만 반영합니다. Story는 노래 템플릿, UI는 안내와 선택지를 수정해 주세요. 나머지는 유지합니다.</a:t>
            </a:r>
          </a:p>
        </p:txBody>
      </p:sp>
      <p:sp>
        <p:nvSpPr>
          <p:cNvPr id="19" name="PM arrow"/>
          <p:cNvSpPr/>
          <p:nvPr/>
        </p:nvSpPr>
        <p:spPr>
          <a:xfrm>
            <a:off x="6885431" y="4327779"/>
            <a:ext cx="274320" cy="329184"/>
          </a:xfrm>
          <a:prstGeom prst="rightArrow">
            <a:avLst/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anel"/>
          <p:cNvSpPr/>
          <p:nvPr/>
        </p:nvSpPr>
        <p:spPr>
          <a:xfrm>
            <a:off x="7223759" y="1783080"/>
            <a:ext cx="4419295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9050">
            <a:solidFill>
              <a:srgbClr val="2B6A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984248"/>
            <a:ext cx="387065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정리 직후 바뀐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96312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범위 · D2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770632"/>
            <a:ext cx="1711960" cy="347472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fiction 안내 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01479" y="2770632"/>
            <a:ext cx="1082548" cy="347472"/>
          </a:xfrm>
          <a:prstGeom prst="roundRect">
            <a:avLst>
              <a:gd name="adj" fmla="val 50000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노래 제외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191256"/>
            <a:ext cx="1676400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나머지 포맷 유지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758183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담당 배정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032503"/>
            <a:ext cx="1985771" cy="347472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Story → 노래 템플릿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453127"/>
            <a:ext cx="2206244" cy="347472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UI → 안내·선택지 수정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020055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Story · UI 상태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5294375"/>
            <a:ext cx="666496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6288" y="5294375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20608" y="5294375"/>
            <a:ext cx="904747" cy="347472"/>
          </a:xfrm>
          <a:prstGeom prst="roundRect">
            <a:avLst>
              <a:gd name="adj" fmla="val 50000"/>
            </a:avLst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중</a:t>
            </a:r>
          </a:p>
        </p:txBody>
      </p:sp>
      <p:sp>
        <p:nvSpPr>
          <p:cNvPr id="33" name="Footnote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고정 데모 시나리오 대사 재구성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548640" y="384048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데모 · Pages 팀 (2/2)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agent가 실행하고, 사람이 검토하고, PM이 마무리한다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6D4F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sp>
        <p:nvSpPr>
          <p:cNvPr id="5" name="Bubble Story"/>
          <p:cNvSpPr/>
          <p:nvPr/>
        </p:nvSpPr>
        <p:spPr>
          <a:xfrm>
            <a:off x="1133856" y="1783080"/>
            <a:ext cx="5678424" cy="783844"/>
          </a:xfrm>
          <a:prstGeom prst="roundRect">
            <a:avLst>
              <a:gd name="adj" fmla="val 16331"/>
            </a:avLst>
          </a:prstGeom>
          <a:solidFill>
            <a:srgbClr val="E9E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6736" y="19019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Story</a:t>
            </a: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 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185416"/>
            <a:ext cx="5312664" cy="326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노래 템플릿만 제외했습니다.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94940"/>
            <a:ext cx="457200" cy="457200"/>
          </a:xfrm>
          <a:prstGeom prst="ellipse">
            <a:avLst/>
          </a:prstGeom>
          <a:solidFill>
            <a:srgbClr val="6D4F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9" name="Bubble UI"/>
          <p:cNvSpPr/>
          <p:nvPr/>
        </p:nvSpPr>
        <p:spPr>
          <a:xfrm>
            <a:off x="1133856" y="2694940"/>
            <a:ext cx="5678424" cy="783844"/>
          </a:xfrm>
          <a:prstGeom prst="roundRect">
            <a:avLst>
              <a:gd name="adj" fmla="val 16331"/>
            </a:avLst>
          </a:prstGeom>
          <a:solidFill>
            <a:srgbClr val="E9E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281381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UI</a:t>
            </a: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 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3097276"/>
            <a:ext cx="5312664" cy="326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fiction 안내를 추가하고 노래 선택지를 제거한 v1.1입니다.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06800"/>
            <a:ext cx="457200" cy="457200"/>
          </a:xfrm>
          <a:prstGeom prst="ellipse">
            <a:avLst/>
          </a:prstGeom>
          <a:solidFill>
            <a:srgbClr val="4E8C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</a:t>
            </a:r>
          </a:p>
        </p:txBody>
      </p:sp>
      <p:sp>
        <p:nvSpPr>
          <p:cNvPr id="13" name="Bubble 도윤"/>
          <p:cNvSpPr/>
          <p:nvPr/>
        </p:nvSpPr>
        <p:spPr>
          <a:xfrm>
            <a:off x="1133856" y="3606800"/>
            <a:ext cx="5678424" cy="1000759"/>
          </a:xfrm>
          <a:prstGeom prst="roundRect">
            <a:avLst>
              <a:gd name="adj" fmla="val 12791"/>
            </a:avLst>
          </a:prstGeom>
          <a:solidFill>
            <a:srgbClr val="E4F1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7256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2B6A52"/>
                </a:solidFill>
                <a:latin typeface="Malgun Gothic"/>
                <a:ea typeface="Malgun Gothic"/>
                <a:cs typeface="Malgun Gothic"/>
              </a:rPr>
              <a:t>도윤</a:t>
            </a: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  사람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04212" y="3716528"/>
            <a:ext cx="553720" cy="244475"/>
          </a:xfrm>
          <a:prstGeom prst="roundRect">
            <a:avLst>
              <a:gd name="adj" fmla="val 50000"/>
            </a:avLst>
          </a:prstGeom>
          <a:solidFill>
            <a:srgbClr val="FFE7C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lang="ko-KR">
                <a:solidFill>
                  <a:srgbClr val="9A5B00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009136"/>
            <a:ext cx="5312664" cy="5435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lang="ko-KR">
                <a:solidFill>
                  <a:srgbClr val="18201C"/>
                </a:solidFill>
                <a:latin typeface="Malgun Gothic"/>
                <a:ea typeface="Malgun Gothic"/>
                <a:cs typeface="Malgun Gothic"/>
              </a:rPr>
              <a:t>안내가 보이고 노래는 빠졌네요. 이번 화면 검토는 여기까지로 할게요.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735576"/>
            <a:ext cx="457200" cy="457200"/>
          </a:xfrm>
          <a:prstGeom prst="ellipse">
            <a:avLst/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</a:t>
            </a:r>
          </a:p>
        </p:txBody>
      </p:sp>
      <p:sp>
        <p:nvSpPr>
          <p:cNvPr id="18" name="Bubble PM"/>
          <p:cNvSpPr/>
          <p:nvPr/>
        </p:nvSpPr>
        <p:spPr>
          <a:xfrm>
            <a:off x="1133856" y="4735576"/>
            <a:ext cx="5678424" cy="1031747"/>
          </a:xfrm>
          <a:prstGeom prst="roundRect">
            <a:avLst>
              <a:gd name="adj" fmla="val 12407"/>
            </a:avLst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854447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PM</a:t>
            </a:r>
            <a:r>
              <a:rPr sz="1100" b="0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  PM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83282" y="4845304"/>
            <a:ext cx="914146" cy="244475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5137912"/>
            <a:ext cx="5312664" cy="5745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요청한 두 변경과 유지 항목을 대조했고, 이번 작업을 마칩니다. 다음 판단은 두 분이 이어가면 됩니다.</a:t>
            </a:r>
          </a:p>
        </p:txBody>
      </p:sp>
      <p:sp>
        <p:nvSpPr>
          <p:cNvPr id="22" name="PM arrow"/>
          <p:cNvSpPr/>
          <p:nvPr/>
        </p:nvSpPr>
        <p:spPr>
          <a:xfrm>
            <a:off x="6885431" y="5086858"/>
            <a:ext cx="274320" cy="329184"/>
          </a:xfrm>
          <a:prstGeom prst="rightArrow">
            <a:avLst/>
          </a:prstGeom>
          <a:solidFill>
            <a:srgbClr val="173B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anel"/>
          <p:cNvSpPr/>
          <p:nvPr/>
        </p:nvSpPr>
        <p:spPr>
          <a:xfrm>
            <a:off x="7223759" y="1783080"/>
            <a:ext cx="4419295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9050">
            <a:solidFill>
              <a:srgbClr val="2B6A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984248"/>
            <a:ext cx="387065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PM 정리 직후 바뀐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496312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담당 · Story·UI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770632"/>
            <a:ext cx="666496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288" y="277063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20608" y="2770632"/>
            <a:ext cx="904747" cy="347472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실행 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7068" y="277063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1388" y="2770632"/>
            <a:ext cx="666496" cy="347472"/>
          </a:xfrm>
          <a:prstGeom prst="roundRect">
            <a:avLst>
              <a:gd name="adj" fmla="val 50000"/>
            </a:avLst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337560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611879"/>
            <a:ext cx="1082548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검토 대기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62340" y="3611879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36660" y="3611879"/>
            <a:ext cx="1509268" cy="347472"/>
          </a:xfrm>
          <a:prstGeom prst="roundRect">
            <a:avLst>
              <a:gd name="adj" fmla="val 50000"/>
            </a:avLst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v1.1 검토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178807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산출물 · 첫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4453127"/>
            <a:ext cx="677164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v1.0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956" y="4453127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1276" y="4453127"/>
            <a:ext cx="677164" cy="347472"/>
          </a:xfrm>
          <a:prstGeom prst="roundRect">
            <a:avLst>
              <a:gd name="adj" fmla="val 50000"/>
            </a:avLst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v1.1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020055"/>
            <a:ext cx="387065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5294375"/>
            <a:ext cx="1260347" cy="347472"/>
          </a:xfrm>
          <a:prstGeom prst="roundRect">
            <a:avLst>
              <a:gd name="adj" fmla="val 50000"/>
            </a:avLst>
          </a:prstGeom>
          <a:solidFill>
            <a:srgbClr val="ECEEEA"/>
          </a:solidFill>
          <a:ln w="9525">
            <a:solidFill>
              <a:srgbClr val="C9D1CB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도윤 재검토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0140" y="5294375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14460" y="5294375"/>
            <a:ext cx="1498600" cy="347472"/>
          </a:xfrm>
          <a:prstGeom prst="roundRect">
            <a:avLst>
              <a:gd name="adj" fmla="val 50000"/>
            </a:avLst>
          </a:prstGeom>
          <a:solidFill>
            <a:srgbClr val="2B6A52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서연 다음 판단</a:t>
            </a:r>
          </a:p>
        </p:txBody>
      </p:sp>
      <p:sp>
        <p:nvSpPr>
          <p:cNvPr id="43" name="Footnote"/>
          <p:cNvSpPr txBox="1"/>
          <p:nvPr/>
        </p:nvSpPr>
        <p:spPr>
          <a:xfrm>
            <a:off x="548640" y="6108192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고정 데모 시나리오 대사 재구성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4A565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"/>
          <p:cNvSpPr txBox="1"/>
          <p:nvPr/>
        </p:nvSpPr>
        <p:spPr>
          <a:xfrm>
            <a:off x="822960" y="82296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1371600"/>
            <a:ext cx="10607040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내가 대화를 다시 정리하고 담당자를 찾아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일일이 쫓아가지 않아도,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팀의 합의가 실제 작업과 결과로 이어진다.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343400"/>
            <a:ext cx="1198880" cy="566928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합의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7560" y="434340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5887" y="4343400"/>
            <a:ext cx="1198880" cy="566928"/>
          </a:xfrm>
          <a:prstGeom prst="roundRect">
            <a:avLst>
              <a:gd name="adj" fmla="val 50000"/>
            </a:avLst>
          </a:prstGeom>
          <a:solidFill>
            <a:srgbClr val="E9E1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lang="ko-KR">
                <a:solidFill>
                  <a:srgbClr val="6D4FD8"/>
                </a:solidFill>
                <a:latin typeface="Malgun Gothic"/>
                <a:ea typeface="Malgun Gothic"/>
                <a:cs typeface="Malgun Gothic"/>
              </a:rPr>
              <a:t>작업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0487" y="4343400"/>
            <a:ext cx="29260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400" b="1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8816" y="4343400"/>
            <a:ext cx="11988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lang="ko-KR">
                <a:solidFill>
                  <a:srgbClr val="173B30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Ensemble</a:t>
            </a:r>
            <a:r>
              <a:rPr sz="1800" b="0" lang="ko-KR">
                <a:solidFill>
                  <a:srgbClr val="D3EBDD"/>
                </a:solidFill>
                <a:latin typeface="Malgun Gothic"/>
                <a:ea typeface="Malgun Gothic"/>
                <a:cs typeface="Malgun Gothic"/>
              </a:rPr>
              <a:t>  ·  PM agent가 사람과 agent를 한 팀으로 이끄는 협업툴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lang="ko-KR">
                <a:solidFill>
                  <a:srgbClr val="B7D3C4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Malgun Gothic"/>
        <a:cs typeface="Malgun Gothic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Malgun Gothic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— PM agent가 사람과 agent를 한 팀으로 이끄는 협업툴</dc:title>
  <dc:subject/>
  <dc:creator>Ensemble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